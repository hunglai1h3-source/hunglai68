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etrona Bold" charset="1" panose="00000000000000000000"/>
      <p:regular r:id="rId19"/>
    </p:embeddedFont>
    <p:embeddedFont>
      <p:font typeface="Inter" charset="1" panose="02000503000000020004"/>
      <p:regular r:id="rId20"/>
    </p:embeddedFont>
    <p:embeddedFont>
      <p:font typeface="Consolas" charset="1" panose="020B0609020204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785660"/>
            <a:ext cx="9445523" cy="198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5"/>
              </a:lnSpc>
            </a:pPr>
            <a:r>
              <a:rPr lang="en-US" sz="6124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PHẦN I – Bài 1: Phân tích &amp; Xác định Thực thể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112294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Mục tiêu: từ bảng dữ liệu “phồng” ban đầu (đơn hàng chứa danhSachSảnPham dạng chuỗi), xác định các thực thể chính và thuộc tính để thiết kế CSDL cho "An Bình Mart".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6" y="4873076"/>
            <a:ext cx="9455048" cy="2160384"/>
            <a:chOff x="0" y="0"/>
            <a:chExt cx="12606731" cy="2880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2594082" cy="2867787"/>
            </a:xfrm>
            <a:custGeom>
              <a:avLst/>
              <a:gdLst/>
              <a:ahLst/>
              <a:cxnLst/>
              <a:rect r="r" b="b" t="t" l="l"/>
              <a:pathLst>
                <a:path h="2867787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709037"/>
                  </a:lnTo>
                  <a:cubicBezTo>
                    <a:pt x="12594082" y="2796794"/>
                    <a:pt x="12522708" y="2867787"/>
                    <a:pt x="12434697" y="2867787"/>
                  </a:cubicBezTo>
                  <a:lnTo>
                    <a:pt x="159385" y="2867787"/>
                  </a:lnTo>
                  <a:cubicBezTo>
                    <a:pt x="71374" y="2867787"/>
                    <a:pt x="0" y="2796667"/>
                    <a:pt x="0" y="2709037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06782" cy="2880487"/>
            </a:xfrm>
            <a:custGeom>
              <a:avLst/>
              <a:gdLst/>
              <a:ahLst/>
              <a:cxnLst/>
              <a:rect r="r" b="b" t="t" l="l"/>
              <a:pathLst>
                <a:path h="2880487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715387"/>
                  </a:lnTo>
                  <a:lnTo>
                    <a:pt x="12600432" y="2715387"/>
                  </a:lnTo>
                  <a:lnTo>
                    <a:pt x="12606782" y="2715387"/>
                  </a:lnTo>
                  <a:cubicBezTo>
                    <a:pt x="12606782" y="2806573"/>
                    <a:pt x="12532614" y="2880487"/>
                    <a:pt x="12441047" y="2880487"/>
                  </a:cubicBezTo>
                  <a:lnTo>
                    <a:pt x="12441047" y="2874137"/>
                  </a:lnTo>
                  <a:lnTo>
                    <a:pt x="12441047" y="2880487"/>
                  </a:lnTo>
                  <a:lnTo>
                    <a:pt x="165735" y="2880487"/>
                  </a:lnTo>
                  <a:lnTo>
                    <a:pt x="165735" y="2874137"/>
                  </a:lnTo>
                  <a:lnTo>
                    <a:pt x="165735" y="2880487"/>
                  </a:lnTo>
                  <a:cubicBezTo>
                    <a:pt x="74295" y="2880487"/>
                    <a:pt x="0" y="2806573"/>
                    <a:pt x="0" y="271538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15387"/>
                  </a:lnTo>
                  <a:lnTo>
                    <a:pt x="6350" y="2715387"/>
                  </a:lnTo>
                  <a:lnTo>
                    <a:pt x="12700" y="2715387"/>
                  </a:lnTo>
                  <a:cubicBezTo>
                    <a:pt x="12700" y="2799588"/>
                    <a:pt x="81153" y="2867787"/>
                    <a:pt x="165735" y="2867787"/>
                  </a:cubicBezTo>
                  <a:lnTo>
                    <a:pt x="12441047" y="2867787"/>
                  </a:lnTo>
                  <a:cubicBezTo>
                    <a:pt x="12525502" y="2867787"/>
                    <a:pt x="12594082" y="2799461"/>
                    <a:pt x="12594082" y="2715387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143284" y="5151834"/>
            <a:ext cx="3898554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Thực thể gợi 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3284" y="5742680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Khách hàng, Đơn hàng (Hóa đơn), Sản phẩm, Mặt hàng trong đơn (OrderLine), Thanh toán / Phương thức thanh toán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45476" y="7307466"/>
            <a:ext cx="9455048" cy="2160384"/>
            <a:chOff x="0" y="0"/>
            <a:chExt cx="12606731" cy="28805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594082" cy="2867787"/>
            </a:xfrm>
            <a:custGeom>
              <a:avLst/>
              <a:gdLst/>
              <a:ahLst/>
              <a:cxnLst/>
              <a:rect r="r" b="b" t="t" l="l"/>
              <a:pathLst>
                <a:path h="2867787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709037"/>
                  </a:lnTo>
                  <a:cubicBezTo>
                    <a:pt x="12594082" y="2796794"/>
                    <a:pt x="12522708" y="2867787"/>
                    <a:pt x="12434697" y="2867787"/>
                  </a:cubicBezTo>
                  <a:lnTo>
                    <a:pt x="159385" y="2867787"/>
                  </a:lnTo>
                  <a:cubicBezTo>
                    <a:pt x="71374" y="2867787"/>
                    <a:pt x="0" y="2796667"/>
                    <a:pt x="0" y="2709037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06782" cy="2880487"/>
            </a:xfrm>
            <a:custGeom>
              <a:avLst/>
              <a:gdLst/>
              <a:ahLst/>
              <a:cxnLst/>
              <a:rect r="r" b="b" t="t" l="l"/>
              <a:pathLst>
                <a:path h="2880487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715387"/>
                  </a:lnTo>
                  <a:lnTo>
                    <a:pt x="12600432" y="2715387"/>
                  </a:lnTo>
                  <a:lnTo>
                    <a:pt x="12606782" y="2715387"/>
                  </a:lnTo>
                  <a:cubicBezTo>
                    <a:pt x="12606782" y="2806573"/>
                    <a:pt x="12532614" y="2880487"/>
                    <a:pt x="12441047" y="2880487"/>
                  </a:cubicBezTo>
                  <a:lnTo>
                    <a:pt x="12441047" y="2874137"/>
                  </a:lnTo>
                  <a:lnTo>
                    <a:pt x="12441047" y="2880487"/>
                  </a:lnTo>
                  <a:lnTo>
                    <a:pt x="165735" y="2880487"/>
                  </a:lnTo>
                  <a:lnTo>
                    <a:pt x="165735" y="2874137"/>
                  </a:lnTo>
                  <a:lnTo>
                    <a:pt x="165735" y="2880487"/>
                  </a:lnTo>
                  <a:cubicBezTo>
                    <a:pt x="74295" y="2880487"/>
                    <a:pt x="0" y="2806573"/>
                    <a:pt x="0" y="271538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15387"/>
                  </a:lnTo>
                  <a:lnTo>
                    <a:pt x="6350" y="2715387"/>
                  </a:lnTo>
                  <a:lnTo>
                    <a:pt x="12700" y="2715387"/>
                  </a:lnTo>
                  <a:cubicBezTo>
                    <a:pt x="12700" y="2799588"/>
                    <a:pt x="81153" y="2867787"/>
                    <a:pt x="165735" y="2867787"/>
                  </a:cubicBezTo>
                  <a:lnTo>
                    <a:pt x="12441047" y="2867787"/>
                  </a:lnTo>
                  <a:cubicBezTo>
                    <a:pt x="12525502" y="2867787"/>
                    <a:pt x="12594082" y="2799461"/>
                    <a:pt x="12594082" y="2715387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143284" y="7586215"/>
            <a:ext cx="3898554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Nguyên tắc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3284" y="8177060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Mỗi ô phải chứa một giá trị nguyên tử; danh sách lồng nhau phải tách thành bảng liên kết (order_lines).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83121" y="1971227"/>
            <a:ext cx="6695780" cy="59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Thực thể &amp; Thuộc tính (chi tiết)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83121" y="2881312"/>
            <a:ext cx="766315" cy="957853"/>
            <a:chOff x="0" y="0"/>
            <a:chExt cx="1021753" cy="12771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1715" cy="1277112"/>
            </a:xfrm>
            <a:custGeom>
              <a:avLst/>
              <a:gdLst/>
              <a:ahLst/>
              <a:cxnLst/>
              <a:rect r="r" b="b" t="t" l="l"/>
              <a:pathLst>
                <a:path h="1277112" w="1021715">
                  <a:moveTo>
                    <a:pt x="0" y="0"/>
                  </a:moveTo>
                  <a:lnTo>
                    <a:pt x="1021715" y="0"/>
                  </a:lnTo>
                  <a:lnTo>
                    <a:pt x="1021715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2" r="-3" b="-50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44698" y="2862262"/>
            <a:ext cx="2522334" cy="74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Khách hàng (Customer)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4698" y="3660134"/>
            <a:ext cx="2522334" cy="91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customer_id (PK), full_name, phone, email, address, created_at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62305" y="2881312"/>
            <a:ext cx="766315" cy="957853"/>
            <a:chOff x="0" y="0"/>
            <a:chExt cx="1021753" cy="12771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21715" cy="1277112"/>
            </a:xfrm>
            <a:custGeom>
              <a:avLst/>
              <a:gdLst/>
              <a:ahLst/>
              <a:cxnLst/>
              <a:rect r="r" b="b" t="t" l="l"/>
              <a:pathLst>
                <a:path h="1277112" w="1021715">
                  <a:moveTo>
                    <a:pt x="0" y="0"/>
                  </a:moveTo>
                  <a:lnTo>
                    <a:pt x="1021715" y="0"/>
                  </a:lnTo>
                  <a:lnTo>
                    <a:pt x="1021715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02" r="-3" b="-50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23882" y="2862262"/>
            <a:ext cx="2522334" cy="74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Đơn hàng / Hóa đơn (Order)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3882" y="3660134"/>
            <a:ext cx="2522334" cy="150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order_id (PK), order_code, order_date (TIMESTAMP), customer_id (FK), total_amount, status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1479" y="2881312"/>
            <a:ext cx="766315" cy="957853"/>
            <a:chOff x="0" y="0"/>
            <a:chExt cx="1021753" cy="12771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21715" cy="1277112"/>
            </a:xfrm>
            <a:custGeom>
              <a:avLst/>
              <a:gdLst/>
              <a:ahLst/>
              <a:cxnLst/>
              <a:rect r="r" b="b" t="t" l="l"/>
              <a:pathLst>
                <a:path h="1277112" w="1021715">
                  <a:moveTo>
                    <a:pt x="0" y="0"/>
                  </a:moveTo>
                  <a:lnTo>
                    <a:pt x="1021715" y="0"/>
                  </a:lnTo>
                  <a:lnTo>
                    <a:pt x="1021715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02" r="-3" b="-50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03066" y="2862262"/>
            <a:ext cx="2522334" cy="74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Sản phẩm (Product)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03066" y="3660134"/>
            <a:ext cx="2522334" cy="121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product_id (PK), sku, name, unit_price (DECIMAL), unit, category, stock_quantity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20662" y="2881312"/>
            <a:ext cx="766467" cy="958005"/>
            <a:chOff x="0" y="0"/>
            <a:chExt cx="1021956" cy="12773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21969" cy="1277366"/>
            </a:xfrm>
            <a:custGeom>
              <a:avLst/>
              <a:gdLst/>
              <a:ahLst/>
              <a:cxnLst/>
              <a:rect r="r" b="b" t="t" l="l"/>
              <a:pathLst>
                <a:path h="1277366" w="1021969">
                  <a:moveTo>
                    <a:pt x="0" y="0"/>
                  </a:moveTo>
                  <a:lnTo>
                    <a:pt x="1021969" y="0"/>
                  </a:lnTo>
                  <a:lnTo>
                    <a:pt x="1021969" y="1277366"/>
                  </a:lnTo>
                  <a:lnTo>
                    <a:pt x="0" y="1277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04" r="1" b="-50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882392" y="2862262"/>
            <a:ext cx="2522334" cy="74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Mặt hàng trong đơn (OrderLine)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82392" y="3660134"/>
            <a:ext cx="2522334" cy="150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orderline_id (PK), order_id (FK), product_id (FK), quantity (INT), unit_price (DECIMAL), line_total (DECIMAL)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883121" y="5476580"/>
            <a:ext cx="766315" cy="957853"/>
            <a:chOff x="0" y="0"/>
            <a:chExt cx="1021753" cy="127713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21715" cy="1277112"/>
            </a:xfrm>
            <a:custGeom>
              <a:avLst/>
              <a:gdLst/>
              <a:ahLst/>
              <a:cxnLst/>
              <a:rect r="r" b="b" t="t" l="l"/>
              <a:pathLst>
                <a:path h="1277112" w="1021715">
                  <a:moveTo>
                    <a:pt x="0" y="0"/>
                  </a:moveTo>
                  <a:lnTo>
                    <a:pt x="1021715" y="0"/>
                  </a:lnTo>
                  <a:lnTo>
                    <a:pt x="1021715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02" r="-3" b="-50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844698" y="5457530"/>
            <a:ext cx="2522334" cy="110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Thanh toán (Payment) — lựa chọn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44698" y="6617046"/>
            <a:ext cx="2522334" cy="121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payment_id (PK), order_id (FK), amount (DECIMAL), method, paid_at (TIMESTAMP)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83121" y="7965434"/>
            <a:ext cx="14521605" cy="33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Ghi chú: tách DanhSachSanPham thành bảng OrderLine để đạt nguyên tố hóa (atomic).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9528" y="717499"/>
            <a:ext cx="8204302" cy="7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Bài 2 — Bước 1: Đạt Chuẩn 1NF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528" y="1935213"/>
            <a:ext cx="16388953" cy="92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Vấn đề ban đầu: cột DanhSachSanPham chứa nhiều giá trị (tên, số lượng, đơn giá) trong một ô → vi phạm 1NF. Giải pháp: tách thành 2-3 bảng, mỗi ô là giá trị nguyên tử.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9528" y="3444631"/>
            <a:ext cx="10421093" cy="5816356"/>
            <a:chOff x="0" y="0"/>
            <a:chExt cx="13894791" cy="775514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894815" cy="7755128"/>
            </a:xfrm>
            <a:custGeom>
              <a:avLst/>
              <a:gdLst/>
              <a:ahLst/>
              <a:cxnLst/>
              <a:rect r="r" b="b" t="t" l="l"/>
              <a:pathLst>
                <a:path h="7755128" w="13894815">
                  <a:moveTo>
                    <a:pt x="0" y="0"/>
                  </a:moveTo>
                  <a:lnTo>
                    <a:pt x="13894815" y="0"/>
                  </a:lnTo>
                  <a:lnTo>
                    <a:pt x="13894815" y="7755128"/>
                  </a:lnTo>
                  <a:lnTo>
                    <a:pt x="0" y="7755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" r="0" b="-3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42134" y="3796008"/>
            <a:ext cx="4580782" cy="48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937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Các bảng tạo mới (sau 1NF)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134" y="4464691"/>
            <a:ext cx="5305720" cy="459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customers (customer_id, full_name, phone, address, ...)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 (order_id, order_code, order_date, customer_id, total_amount, ...)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products (product_id, sku, name, unit_price, ...)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order_lines (orderline_id, order_id, product_id, quantity, unit_price, line_total)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143591"/>
            <a:ext cx="8745884" cy="8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Bài 2 — Bước 2: Đạt Chuẩn 2NF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300735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Kiểm tra khóa chính phức hợp: nếu dùng (order_id, product_id) làm PK cho order_lines → mọi thuộc tính phải phụ thuộc toàn phần. Nếu có thuộc tính chỉ phụ thuộc một phần, phải tách.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4061517"/>
            <a:ext cx="9455048" cy="2614022"/>
            <a:chOff x="0" y="0"/>
            <a:chExt cx="12606731" cy="3485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2593955" cy="3472688"/>
            </a:xfrm>
            <a:custGeom>
              <a:avLst/>
              <a:gdLst/>
              <a:ahLst/>
              <a:cxnLst/>
              <a:rect r="r" b="b" t="t" l="l"/>
              <a:pathLst>
                <a:path h="3472688" w="1259395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2434824" y="0"/>
                  </a:lnTo>
                  <a:cubicBezTo>
                    <a:pt x="12522708" y="0"/>
                    <a:pt x="12593955" y="71120"/>
                    <a:pt x="12593955" y="158750"/>
                  </a:cubicBezTo>
                  <a:lnTo>
                    <a:pt x="12593955" y="3313938"/>
                  </a:lnTo>
                  <a:cubicBezTo>
                    <a:pt x="12593955" y="3401568"/>
                    <a:pt x="12522708" y="3472688"/>
                    <a:pt x="12434824" y="3472688"/>
                  </a:cubicBezTo>
                  <a:lnTo>
                    <a:pt x="159131" y="3472688"/>
                  </a:lnTo>
                  <a:cubicBezTo>
                    <a:pt x="71247" y="3472688"/>
                    <a:pt x="0" y="3401568"/>
                    <a:pt x="0" y="331393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06655" cy="3485388"/>
            </a:xfrm>
            <a:custGeom>
              <a:avLst/>
              <a:gdLst/>
              <a:ahLst/>
              <a:cxnLst/>
              <a:rect r="r" b="b" t="t" l="l"/>
              <a:pathLst>
                <a:path h="3485388" w="1260665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12441174" y="0"/>
                  </a:lnTo>
                  <a:lnTo>
                    <a:pt x="12441174" y="6350"/>
                  </a:lnTo>
                  <a:lnTo>
                    <a:pt x="12441174" y="0"/>
                  </a:lnTo>
                  <a:cubicBezTo>
                    <a:pt x="12532614" y="0"/>
                    <a:pt x="12606655" y="73914"/>
                    <a:pt x="12606655" y="165100"/>
                  </a:cubicBezTo>
                  <a:lnTo>
                    <a:pt x="12600305" y="165100"/>
                  </a:lnTo>
                  <a:lnTo>
                    <a:pt x="12606655" y="165100"/>
                  </a:lnTo>
                  <a:lnTo>
                    <a:pt x="12606655" y="3320288"/>
                  </a:lnTo>
                  <a:lnTo>
                    <a:pt x="12600305" y="3320288"/>
                  </a:lnTo>
                  <a:lnTo>
                    <a:pt x="12606655" y="3320288"/>
                  </a:lnTo>
                  <a:cubicBezTo>
                    <a:pt x="12606655" y="3411474"/>
                    <a:pt x="12532487" y="3485388"/>
                    <a:pt x="12441174" y="3485388"/>
                  </a:cubicBezTo>
                  <a:lnTo>
                    <a:pt x="12441174" y="3479038"/>
                  </a:lnTo>
                  <a:lnTo>
                    <a:pt x="12441174" y="3485388"/>
                  </a:lnTo>
                  <a:lnTo>
                    <a:pt x="165481" y="3485388"/>
                  </a:lnTo>
                  <a:lnTo>
                    <a:pt x="165481" y="3479038"/>
                  </a:lnTo>
                  <a:lnTo>
                    <a:pt x="165481" y="3485388"/>
                  </a:lnTo>
                  <a:cubicBezTo>
                    <a:pt x="74041" y="3485388"/>
                    <a:pt x="0" y="3411474"/>
                    <a:pt x="0" y="332028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20288"/>
                  </a:lnTo>
                  <a:lnTo>
                    <a:pt x="6350" y="3320288"/>
                  </a:lnTo>
                  <a:lnTo>
                    <a:pt x="12700" y="3320288"/>
                  </a:lnTo>
                  <a:cubicBezTo>
                    <a:pt x="12700" y="3404489"/>
                    <a:pt x="81153" y="3472688"/>
                    <a:pt x="165481" y="3472688"/>
                  </a:cubicBezTo>
                  <a:lnTo>
                    <a:pt x="12441174" y="3472688"/>
                  </a:lnTo>
                  <a:cubicBezTo>
                    <a:pt x="12525629" y="3472688"/>
                    <a:pt x="12593955" y="3404489"/>
                    <a:pt x="12593955" y="3320288"/>
                  </a:cubicBezTo>
                  <a:lnTo>
                    <a:pt x="12593955" y="165100"/>
                  </a:lnTo>
                  <a:cubicBezTo>
                    <a:pt x="12593955" y="80899"/>
                    <a:pt x="12525502" y="12700"/>
                    <a:pt x="1244117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284" y="4340276"/>
            <a:ext cx="3898554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Quyết định thiết kế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284" y="4931121"/>
            <a:ext cx="885944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Để dễ mở rộng và đặt ID duy nhất: tạo orderline_id (PK) thay vì chỉ dùng composite-key; giữ order_id &amp; product_id làm FK. Điều này tránh phụ thuộc từng phần.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7476" y="6949526"/>
            <a:ext cx="9455048" cy="2160384"/>
            <a:chOff x="0" y="0"/>
            <a:chExt cx="12606731" cy="28805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2594082" cy="2867787"/>
            </a:xfrm>
            <a:custGeom>
              <a:avLst/>
              <a:gdLst/>
              <a:ahLst/>
              <a:cxnLst/>
              <a:rect r="r" b="b" t="t" l="l"/>
              <a:pathLst>
                <a:path h="2867787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709037"/>
                  </a:lnTo>
                  <a:cubicBezTo>
                    <a:pt x="12594082" y="2796794"/>
                    <a:pt x="12522708" y="2867787"/>
                    <a:pt x="12434697" y="2867787"/>
                  </a:cubicBezTo>
                  <a:lnTo>
                    <a:pt x="159385" y="2867787"/>
                  </a:lnTo>
                  <a:cubicBezTo>
                    <a:pt x="71374" y="2867787"/>
                    <a:pt x="0" y="2796667"/>
                    <a:pt x="0" y="2709037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06782" cy="2880487"/>
            </a:xfrm>
            <a:custGeom>
              <a:avLst/>
              <a:gdLst/>
              <a:ahLst/>
              <a:cxnLst/>
              <a:rect r="r" b="b" t="t" l="l"/>
              <a:pathLst>
                <a:path h="2880487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715387"/>
                  </a:lnTo>
                  <a:lnTo>
                    <a:pt x="12600432" y="2715387"/>
                  </a:lnTo>
                  <a:lnTo>
                    <a:pt x="12606782" y="2715387"/>
                  </a:lnTo>
                  <a:cubicBezTo>
                    <a:pt x="12606782" y="2806573"/>
                    <a:pt x="12532614" y="2880487"/>
                    <a:pt x="12441047" y="2880487"/>
                  </a:cubicBezTo>
                  <a:lnTo>
                    <a:pt x="12441047" y="2874137"/>
                  </a:lnTo>
                  <a:lnTo>
                    <a:pt x="12441047" y="2880487"/>
                  </a:lnTo>
                  <a:lnTo>
                    <a:pt x="165735" y="2880487"/>
                  </a:lnTo>
                  <a:lnTo>
                    <a:pt x="165735" y="2874137"/>
                  </a:lnTo>
                  <a:lnTo>
                    <a:pt x="165735" y="2880487"/>
                  </a:lnTo>
                  <a:cubicBezTo>
                    <a:pt x="74295" y="2880487"/>
                    <a:pt x="0" y="2806573"/>
                    <a:pt x="0" y="271538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15387"/>
                  </a:lnTo>
                  <a:lnTo>
                    <a:pt x="6350" y="2715387"/>
                  </a:lnTo>
                  <a:lnTo>
                    <a:pt x="12700" y="2715387"/>
                  </a:lnTo>
                  <a:cubicBezTo>
                    <a:pt x="12700" y="2799588"/>
                    <a:pt x="81153" y="2867787"/>
                    <a:pt x="165735" y="2867787"/>
                  </a:cubicBezTo>
                  <a:lnTo>
                    <a:pt x="12441047" y="2867787"/>
                  </a:lnTo>
                  <a:cubicBezTo>
                    <a:pt x="12525502" y="2867787"/>
                    <a:pt x="12594082" y="2799461"/>
                    <a:pt x="12594082" y="2715387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84" y="7228284"/>
            <a:ext cx="3898554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Ví dụ vấn đề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284" y="7819130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Thông tin sản phẩm (tên, đơn giá) không phụ thuộc vào order_id → phải ở bảng products, không ở orders.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332282"/>
            <a:ext cx="8744693" cy="8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Bài 2 — Bước 3: Đạt Chuẩn 3NF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489427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Kiểm tra phụ thuộc bắc cầu (transitive): không để thuộc tính non-key phụ thuộc vào non-key khác. Ví dụ: lưu thông tin khách hàng (tên, phone) trong bảng orders là bắc cầu → phải đưa về bảng customers.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31188" y="5235921"/>
            <a:ext cx="9483623" cy="2699747"/>
            <a:chOff x="0" y="0"/>
            <a:chExt cx="12644831" cy="35996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2594082" cy="3548888"/>
            </a:xfrm>
            <a:custGeom>
              <a:avLst/>
              <a:gdLst/>
              <a:ahLst/>
              <a:cxnLst/>
              <a:rect r="r" b="b" t="t" l="l"/>
              <a:pathLst>
                <a:path h="3548888" w="12594082">
                  <a:moveTo>
                    <a:pt x="0" y="158750"/>
                  </a:moveTo>
                  <a:cubicBezTo>
                    <a:pt x="0" y="71120"/>
                    <a:pt x="71755" y="0"/>
                    <a:pt x="160401" y="0"/>
                  </a:cubicBezTo>
                  <a:lnTo>
                    <a:pt x="12433681" y="0"/>
                  </a:lnTo>
                  <a:cubicBezTo>
                    <a:pt x="12522327" y="0"/>
                    <a:pt x="12594082" y="71120"/>
                    <a:pt x="12594082" y="158750"/>
                  </a:cubicBezTo>
                  <a:lnTo>
                    <a:pt x="12594082" y="3390138"/>
                  </a:lnTo>
                  <a:cubicBezTo>
                    <a:pt x="12594082" y="3477768"/>
                    <a:pt x="12522327" y="3548888"/>
                    <a:pt x="12433681" y="3548888"/>
                  </a:cubicBezTo>
                  <a:lnTo>
                    <a:pt x="160401" y="3548888"/>
                  </a:lnTo>
                  <a:cubicBezTo>
                    <a:pt x="71755" y="3548888"/>
                    <a:pt x="0" y="3477768"/>
                    <a:pt x="0" y="3390138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44882" cy="3599688"/>
            </a:xfrm>
            <a:custGeom>
              <a:avLst/>
              <a:gdLst/>
              <a:ahLst/>
              <a:cxnLst/>
              <a:rect r="r" b="b" t="t" l="l"/>
              <a:pathLst>
                <a:path h="3599688" w="12644882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12459081" y="0"/>
                  </a:lnTo>
                  <a:lnTo>
                    <a:pt x="12459081" y="25400"/>
                  </a:lnTo>
                  <a:lnTo>
                    <a:pt x="12459081" y="0"/>
                  </a:lnTo>
                  <a:cubicBezTo>
                    <a:pt x="12561443" y="0"/>
                    <a:pt x="12644882" y="82169"/>
                    <a:pt x="12644882" y="184150"/>
                  </a:cubicBezTo>
                  <a:lnTo>
                    <a:pt x="12619482" y="184150"/>
                  </a:lnTo>
                  <a:lnTo>
                    <a:pt x="12644882" y="184150"/>
                  </a:lnTo>
                  <a:lnTo>
                    <a:pt x="12644882" y="3415538"/>
                  </a:lnTo>
                  <a:lnTo>
                    <a:pt x="12619482" y="3415538"/>
                  </a:lnTo>
                  <a:lnTo>
                    <a:pt x="12644882" y="3415538"/>
                  </a:lnTo>
                  <a:cubicBezTo>
                    <a:pt x="12644882" y="3517519"/>
                    <a:pt x="12561443" y="3599688"/>
                    <a:pt x="12459081" y="3599688"/>
                  </a:cubicBezTo>
                  <a:lnTo>
                    <a:pt x="12459081" y="3574288"/>
                  </a:lnTo>
                  <a:lnTo>
                    <a:pt x="12459081" y="3599688"/>
                  </a:lnTo>
                  <a:lnTo>
                    <a:pt x="185801" y="3599688"/>
                  </a:lnTo>
                  <a:lnTo>
                    <a:pt x="185801" y="3574288"/>
                  </a:lnTo>
                  <a:lnTo>
                    <a:pt x="185801" y="3599688"/>
                  </a:lnTo>
                  <a:cubicBezTo>
                    <a:pt x="83439" y="3599688"/>
                    <a:pt x="0" y="3517392"/>
                    <a:pt x="0" y="341553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415538"/>
                  </a:lnTo>
                  <a:lnTo>
                    <a:pt x="25400" y="3415538"/>
                  </a:lnTo>
                  <a:lnTo>
                    <a:pt x="50800" y="3415538"/>
                  </a:lnTo>
                  <a:cubicBezTo>
                    <a:pt x="50800" y="3488944"/>
                    <a:pt x="110998" y="3548888"/>
                    <a:pt x="185801" y="3548888"/>
                  </a:cubicBezTo>
                  <a:lnTo>
                    <a:pt x="12459081" y="3548888"/>
                  </a:lnTo>
                  <a:cubicBezTo>
                    <a:pt x="12533885" y="3548888"/>
                    <a:pt x="12594082" y="3488944"/>
                    <a:pt x="12594082" y="3415538"/>
                  </a:cubicBezTo>
                  <a:lnTo>
                    <a:pt x="12594082" y="184150"/>
                  </a:lnTo>
                  <a:cubicBezTo>
                    <a:pt x="12594082" y="110744"/>
                    <a:pt x="12533885" y="50800"/>
                    <a:pt x="12459081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171859" y="5557542"/>
            <a:ext cx="3898554" cy="50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Hành động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71859" y="6148387"/>
            <a:ext cx="880229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 chuyển tất cả thuộc tính về thực thể sở hữu trực tiếp: customer details → customers; product details → products; chỉ giữ khóa tham chiếu trong orders/order_lines.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430" y="1229916"/>
            <a:ext cx="12395749" cy="75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Bài 2 — Bước 4: Kiểu dữ liệu đề xuất (4–5 bảng)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430" y="2410120"/>
            <a:ext cx="16429139" cy="48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Danh sách bảng và kiểu dữ liệu phù hợp (PostgreSQL - đề xuất):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4668" y="3172720"/>
            <a:ext cx="5320008" cy="3221984"/>
            <a:chOff x="0" y="0"/>
            <a:chExt cx="7093344" cy="4295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7080631" cy="4283329"/>
            </a:xfrm>
            <a:custGeom>
              <a:avLst/>
              <a:gdLst/>
              <a:ahLst/>
              <a:cxnLst/>
              <a:rect r="r" b="b" t="t" l="l"/>
              <a:pathLst>
                <a:path h="4283329" w="7080631">
                  <a:moveTo>
                    <a:pt x="0" y="148717"/>
                  </a:moveTo>
                  <a:cubicBezTo>
                    <a:pt x="0" y="66548"/>
                    <a:pt x="66675" y="0"/>
                    <a:pt x="148844" y="0"/>
                  </a:cubicBezTo>
                  <a:lnTo>
                    <a:pt x="6931787" y="0"/>
                  </a:lnTo>
                  <a:cubicBezTo>
                    <a:pt x="7013956" y="0"/>
                    <a:pt x="7080631" y="66548"/>
                    <a:pt x="7080631" y="148717"/>
                  </a:cubicBezTo>
                  <a:lnTo>
                    <a:pt x="7080631" y="4134612"/>
                  </a:lnTo>
                  <a:cubicBezTo>
                    <a:pt x="7080631" y="4216781"/>
                    <a:pt x="7013956" y="4283329"/>
                    <a:pt x="6931787" y="4283329"/>
                  </a:cubicBezTo>
                  <a:lnTo>
                    <a:pt x="148844" y="4283329"/>
                  </a:lnTo>
                  <a:cubicBezTo>
                    <a:pt x="66675" y="4283329"/>
                    <a:pt x="0" y="4216654"/>
                    <a:pt x="0" y="413461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3331" cy="4296029"/>
            </a:xfrm>
            <a:custGeom>
              <a:avLst/>
              <a:gdLst/>
              <a:ahLst/>
              <a:cxnLst/>
              <a:rect r="r" b="b" t="t" l="l"/>
              <a:pathLst>
                <a:path h="4296029" w="7093331">
                  <a:moveTo>
                    <a:pt x="0" y="155067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938137" y="0"/>
                  </a:lnTo>
                  <a:lnTo>
                    <a:pt x="6938137" y="6350"/>
                  </a:lnTo>
                  <a:lnTo>
                    <a:pt x="6938137" y="0"/>
                  </a:lnTo>
                  <a:cubicBezTo>
                    <a:pt x="7023862" y="0"/>
                    <a:pt x="7093331" y="69469"/>
                    <a:pt x="7093331" y="155067"/>
                  </a:cubicBezTo>
                  <a:lnTo>
                    <a:pt x="7086981" y="155067"/>
                  </a:lnTo>
                  <a:lnTo>
                    <a:pt x="7093331" y="155067"/>
                  </a:lnTo>
                  <a:lnTo>
                    <a:pt x="7093331" y="4140962"/>
                  </a:lnTo>
                  <a:lnTo>
                    <a:pt x="7086981" y="4140962"/>
                  </a:lnTo>
                  <a:lnTo>
                    <a:pt x="7093331" y="4140962"/>
                  </a:lnTo>
                  <a:cubicBezTo>
                    <a:pt x="7093331" y="4226560"/>
                    <a:pt x="7023862" y="4296029"/>
                    <a:pt x="6938137" y="4296029"/>
                  </a:cubicBezTo>
                  <a:lnTo>
                    <a:pt x="6938137" y="4289679"/>
                  </a:lnTo>
                  <a:lnTo>
                    <a:pt x="6938137" y="4296029"/>
                  </a:lnTo>
                  <a:lnTo>
                    <a:pt x="155194" y="4296029"/>
                  </a:lnTo>
                  <a:lnTo>
                    <a:pt x="155194" y="4289679"/>
                  </a:lnTo>
                  <a:lnTo>
                    <a:pt x="155194" y="4296029"/>
                  </a:lnTo>
                  <a:cubicBezTo>
                    <a:pt x="69469" y="4296029"/>
                    <a:pt x="0" y="4226560"/>
                    <a:pt x="0" y="4140962"/>
                  </a:cubicBezTo>
                  <a:lnTo>
                    <a:pt x="0" y="155067"/>
                  </a:lnTo>
                  <a:lnTo>
                    <a:pt x="6350" y="155067"/>
                  </a:lnTo>
                  <a:lnTo>
                    <a:pt x="0" y="155067"/>
                  </a:lnTo>
                  <a:moveTo>
                    <a:pt x="12700" y="155067"/>
                  </a:moveTo>
                  <a:lnTo>
                    <a:pt x="12700" y="4140962"/>
                  </a:lnTo>
                  <a:lnTo>
                    <a:pt x="6350" y="4140962"/>
                  </a:lnTo>
                  <a:lnTo>
                    <a:pt x="12700" y="4140962"/>
                  </a:lnTo>
                  <a:cubicBezTo>
                    <a:pt x="12700" y="4219575"/>
                    <a:pt x="76454" y="4283329"/>
                    <a:pt x="155194" y="4283329"/>
                  </a:cubicBezTo>
                  <a:lnTo>
                    <a:pt x="6938137" y="4283329"/>
                  </a:lnTo>
                  <a:cubicBezTo>
                    <a:pt x="7016877" y="4283329"/>
                    <a:pt x="7080631" y="4219575"/>
                    <a:pt x="7080631" y="4140962"/>
                  </a:cubicBezTo>
                  <a:lnTo>
                    <a:pt x="7080631" y="155067"/>
                  </a:lnTo>
                  <a:cubicBezTo>
                    <a:pt x="7080631" y="76454"/>
                    <a:pt x="7016877" y="12700"/>
                    <a:pt x="6938137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06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04465" y="3433467"/>
            <a:ext cx="3651647" cy="4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customers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465" y="3981898"/>
            <a:ext cx="4760414" cy="213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customer_id SERIAL (PK), full_name VARCHAR(255), phone VARCHAR(20), email VARCHAR(255), address VARCHAR(500), created_at TIMESTAMP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3848" y="3172720"/>
            <a:ext cx="5320160" cy="3221984"/>
            <a:chOff x="0" y="0"/>
            <a:chExt cx="7093547" cy="42959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080758" cy="4283329"/>
            </a:xfrm>
            <a:custGeom>
              <a:avLst/>
              <a:gdLst/>
              <a:ahLst/>
              <a:cxnLst/>
              <a:rect r="r" b="b" t="t" l="l"/>
              <a:pathLst>
                <a:path h="4283329" w="7080758">
                  <a:moveTo>
                    <a:pt x="0" y="148717"/>
                  </a:moveTo>
                  <a:cubicBezTo>
                    <a:pt x="0" y="66548"/>
                    <a:pt x="66675" y="0"/>
                    <a:pt x="148844" y="0"/>
                  </a:cubicBezTo>
                  <a:lnTo>
                    <a:pt x="6931913" y="0"/>
                  </a:lnTo>
                  <a:cubicBezTo>
                    <a:pt x="7014083" y="0"/>
                    <a:pt x="7080758" y="66548"/>
                    <a:pt x="7080758" y="148717"/>
                  </a:cubicBezTo>
                  <a:lnTo>
                    <a:pt x="7080758" y="4134612"/>
                  </a:lnTo>
                  <a:cubicBezTo>
                    <a:pt x="7080758" y="4216781"/>
                    <a:pt x="7014083" y="4283329"/>
                    <a:pt x="6931913" y="4283329"/>
                  </a:cubicBezTo>
                  <a:lnTo>
                    <a:pt x="148844" y="4283329"/>
                  </a:lnTo>
                  <a:cubicBezTo>
                    <a:pt x="66675" y="4283329"/>
                    <a:pt x="0" y="4216654"/>
                    <a:pt x="0" y="413461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3458" cy="4296029"/>
            </a:xfrm>
            <a:custGeom>
              <a:avLst/>
              <a:gdLst/>
              <a:ahLst/>
              <a:cxnLst/>
              <a:rect r="r" b="b" t="t" l="l"/>
              <a:pathLst>
                <a:path h="4296029" w="7093458">
                  <a:moveTo>
                    <a:pt x="0" y="155067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938263" y="0"/>
                  </a:lnTo>
                  <a:lnTo>
                    <a:pt x="6938263" y="6350"/>
                  </a:lnTo>
                  <a:lnTo>
                    <a:pt x="6938263" y="0"/>
                  </a:lnTo>
                  <a:cubicBezTo>
                    <a:pt x="7023988" y="0"/>
                    <a:pt x="7093458" y="69469"/>
                    <a:pt x="7093458" y="155067"/>
                  </a:cubicBezTo>
                  <a:lnTo>
                    <a:pt x="7087108" y="155067"/>
                  </a:lnTo>
                  <a:lnTo>
                    <a:pt x="7093458" y="155067"/>
                  </a:lnTo>
                  <a:lnTo>
                    <a:pt x="7093458" y="4140962"/>
                  </a:lnTo>
                  <a:lnTo>
                    <a:pt x="7087108" y="4140962"/>
                  </a:lnTo>
                  <a:lnTo>
                    <a:pt x="7093458" y="4140962"/>
                  </a:lnTo>
                  <a:cubicBezTo>
                    <a:pt x="7093458" y="4226560"/>
                    <a:pt x="7023989" y="4296029"/>
                    <a:pt x="6938263" y="4296029"/>
                  </a:cubicBezTo>
                  <a:lnTo>
                    <a:pt x="6938263" y="4289679"/>
                  </a:lnTo>
                  <a:lnTo>
                    <a:pt x="6938263" y="4296029"/>
                  </a:lnTo>
                  <a:lnTo>
                    <a:pt x="155194" y="4296029"/>
                  </a:lnTo>
                  <a:lnTo>
                    <a:pt x="155194" y="4289679"/>
                  </a:lnTo>
                  <a:lnTo>
                    <a:pt x="155194" y="4296029"/>
                  </a:lnTo>
                  <a:cubicBezTo>
                    <a:pt x="69469" y="4296029"/>
                    <a:pt x="0" y="4226560"/>
                    <a:pt x="0" y="4140962"/>
                  </a:cubicBezTo>
                  <a:lnTo>
                    <a:pt x="0" y="155067"/>
                  </a:lnTo>
                  <a:lnTo>
                    <a:pt x="6350" y="155067"/>
                  </a:lnTo>
                  <a:lnTo>
                    <a:pt x="0" y="155067"/>
                  </a:lnTo>
                  <a:moveTo>
                    <a:pt x="12700" y="155067"/>
                  </a:moveTo>
                  <a:lnTo>
                    <a:pt x="12700" y="4140962"/>
                  </a:lnTo>
                  <a:lnTo>
                    <a:pt x="6350" y="4140962"/>
                  </a:lnTo>
                  <a:lnTo>
                    <a:pt x="12700" y="4140962"/>
                  </a:lnTo>
                  <a:cubicBezTo>
                    <a:pt x="12700" y="4219575"/>
                    <a:pt x="76454" y="4283329"/>
                    <a:pt x="155194" y="4283329"/>
                  </a:cubicBezTo>
                  <a:lnTo>
                    <a:pt x="6938263" y="4283329"/>
                  </a:lnTo>
                  <a:cubicBezTo>
                    <a:pt x="7017003" y="4283329"/>
                    <a:pt x="7080758" y="4219575"/>
                    <a:pt x="7080758" y="4140962"/>
                  </a:cubicBezTo>
                  <a:lnTo>
                    <a:pt x="7080758" y="155067"/>
                  </a:lnTo>
                  <a:cubicBezTo>
                    <a:pt x="7080885" y="76454"/>
                    <a:pt x="7017004" y="12700"/>
                    <a:pt x="6938264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06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63645" y="3433467"/>
            <a:ext cx="3651647" cy="4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products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63645" y="3981898"/>
            <a:ext cx="4760566" cy="213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product_id SERIAL (PK), sku VARCHAR(50), name VARCHAR(255), unit_price DECIMAL(10,2), unit VARCHAR(50), category VARCHAR(100), stock_quantity INT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43172" y="3172720"/>
            <a:ext cx="5320160" cy="3221984"/>
            <a:chOff x="0" y="0"/>
            <a:chExt cx="7093547" cy="4295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7080758" cy="4283329"/>
            </a:xfrm>
            <a:custGeom>
              <a:avLst/>
              <a:gdLst/>
              <a:ahLst/>
              <a:cxnLst/>
              <a:rect r="r" b="b" t="t" l="l"/>
              <a:pathLst>
                <a:path h="4283329" w="7080758">
                  <a:moveTo>
                    <a:pt x="0" y="148717"/>
                  </a:moveTo>
                  <a:cubicBezTo>
                    <a:pt x="0" y="66548"/>
                    <a:pt x="66675" y="0"/>
                    <a:pt x="148844" y="0"/>
                  </a:cubicBezTo>
                  <a:lnTo>
                    <a:pt x="6931913" y="0"/>
                  </a:lnTo>
                  <a:cubicBezTo>
                    <a:pt x="7014083" y="0"/>
                    <a:pt x="7080758" y="66548"/>
                    <a:pt x="7080758" y="148717"/>
                  </a:cubicBezTo>
                  <a:lnTo>
                    <a:pt x="7080758" y="4134612"/>
                  </a:lnTo>
                  <a:cubicBezTo>
                    <a:pt x="7080758" y="4216781"/>
                    <a:pt x="7014083" y="4283329"/>
                    <a:pt x="6931913" y="4283329"/>
                  </a:cubicBezTo>
                  <a:lnTo>
                    <a:pt x="148844" y="4283329"/>
                  </a:lnTo>
                  <a:cubicBezTo>
                    <a:pt x="66675" y="4283329"/>
                    <a:pt x="0" y="4216654"/>
                    <a:pt x="0" y="413461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93458" cy="4296029"/>
            </a:xfrm>
            <a:custGeom>
              <a:avLst/>
              <a:gdLst/>
              <a:ahLst/>
              <a:cxnLst/>
              <a:rect r="r" b="b" t="t" l="l"/>
              <a:pathLst>
                <a:path h="4296029" w="7093458">
                  <a:moveTo>
                    <a:pt x="0" y="155067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938263" y="0"/>
                  </a:lnTo>
                  <a:lnTo>
                    <a:pt x="6938263" y="6350"/>
                  </a:lnTo>
                  <a:lnTo>
                    <a:pt x="6938263" y="0"/>
                  </a:lnTo>
                  <a:cubicBezTo>
                    <a:pt x="7023988" y="0"/>
                    <a:pt x="7093458" y="69469"/>
                    <a:pt x="7093458" y="155067"/>
                  </a:cubicBezTo>
                  <a:lnTo>
                    <a:pt x="7087108" y="155067"/>
                  </a:lnTo>
                  <a:lnTo>
                    <a:pt x="7093458" y="155067"/>
                  </a:lnTo>
                  <a:lnTo>
                    <a:pt x="7093458" y="4140962"/>
                  </a:lnTo>
                  <a:lnTo>
                    <a:pt x="7087108" y="4140962"/>
                  </a:lnTo>
                  <a:lnTo>
                    <a:pt x="7093458" y="4140962"/>
                  </a:lnTo>
                  <a:cubicBezTo>
                    <a:pt x="7093458" y="4226560"/>
                    <a:pt x="7023989" y="4296029"/>
                    <a:pt x="6938263" y="4296029"/>
                  </a:cubicBezTo>
                  <a:lnTo>
                    <a:pt x="6938263" y="4289679"/>
                  </a:lnTo>
                  <a:lnTo>
                    <a:pt x="6938263" y="4296029"/>
                  </a:lnTo>
                  <a:lnTo>
                    <a:pt x="155194" y="4296029"/>
                  </a:lnTo>
                  <a:lnTo>
                    <a:pt x="155194" y="4289679"/>
                  </a:lnTo>
                  <a:lnTo>
                    <a:pt x="155194" y="4296029"/>
                  </a:lnTo>
                  <a:cubicBezTo>
                    <a:pt x="69469" y="4296029"/>
                    <a:pt x="0" y="4226560"/>
                    <a:pt x="0" y="4140962"/>
                  </a:cubicBezTo>
                  <a:lnTo>
                    <a:pt x="0" y="155067"/>
                  </a:lnTo>
                  <a:lnTo>
                    <a:pt x="6350" y="155067"/>
                  </a:lnTo>
                  <a:lnTo>
                    <a:pt x="0" y="155067"/>
                  </a:lnTo>
                  <a:moveTo>
                    <a:pt x="12700" y="155067"/>
                  </a:moveTo>
                  <a:lnTo>
                    <a:pt x="12700" y="4140962"/>
                  </a:lnTo>
                  <a:lnTo>
                    <a:pt x="6350" y="4140962"/>
                  </a:lnTo>
                  <a:lnTo>
                    <a:pt x="12700" y="4140962"/>
                  </a:lnTo>
                  <a:cubicBezTo>
                    <a:pt x="12700" y="4219575"/>
                    <a:pt x="76454" y="4283329"/>
                    <a:pt x="155194" y="4283329"/>
                  </a:cubicBezTo>
                  <a:lnTo>
                    <a:pt x="6938263" y="4283329"/>
                  </a:lnTo>
                  <a:cubicBezTo>
                    <a:pt x="7017003" y="4283329"/>
                    <a:pt x="7080758" y="4219575"/>
                    <a:pt x="7080758" y="4140962"/>
                  </a:cubicBezTo>
                  <a:lnTo>
                    <a:pt x="7080758" y="155067"/>
                  </a:lnTo>
                  <a:cubicBezTo>
                    <a:pt x="7080885" y="76454"/>
                    <a:pt x="7017004" y="12700"/>
                    <a:pt x="6938264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06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22969" y="3433467"/>
            <a:ext cx="3651647" cy="4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orders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22969" y="3981898"/>
            <a:ext cx="4760566" cy="213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order_id SERIAL (PK), order_code VARCHAR(50) UNIQUE, order_date TIMESTAMP, customer_id INT (FK), total_amount DECIMAL(12,2), status VARCHAR(50)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4668" y="6633867"/>
            <a:ext cx="8099669" cy="2399262"/>
            <a:chOff x="0" y="0"/>
            <a:chExt cx="10799559" cy="31990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786745" cy="3186303"/>
            </a:xfrm>
            <a:custGeom>
              <a:avLst/>
              <a:gdLst/>
              <a:ahLst/>
              <a:cxnLst/>
              <a:rect r="r" b="b" t="t" l="l"/>
              <a:pathLst>
                <a:path h="3186303" w="10786745">
                  <a:moveTo>
                    <a:pt x="0" y="148717"/>
                  </a:moveTo>
                  <a:cubicBezTo>
                    <a:pt x="0" y="66548"/>
                    <a:pt x="66802" y="0"/>
                    <a:pt x="149098" y="0"/>
                  </a:cubicBezTo>
                  <a:lnTo>
                    <a:pt x="10637647" y="0"/>
                  </a:lnTo>
                  <a:cubicBezTo>
                    <a:pt x="10720070" y="0"/>
                    <a:pt x="10786745" y="66548"/>
                    <a:pt x="10786745" y="148717"/>
                  </a:cubicBezTo>
                  <a:lnTo>
                    <a:pt x="10786745" y="3037586"/>
                  </a:lnTo>
                  <a:cubicBezTo>
                    <a:pt x="10786745" y="3119755"/>
                    <a:pt x="10719943" y="3186303"/>
                    <a:pt x="10637647" y="3186303"/>
                  </a:cubicBezTo>
                  <a:lnTo>
                    <a:pt x="149098" y="3186303"/>
                  </a:lnTo>
                  <a:cubicBezTo>
                    <a:pt x="66802" y="3186303"/>
                    <a:pt x="0" y="3119755"/>
                    <a:pt x="0" y="3037586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9445" cy="3199003"/>
            </a:xfrm>
            <a:custGeom>
              <a:avLst/>
              <a:gdLst/>
              <a:ahLst/>
              <a:cxnLst/>
              <a:rect r="r" b="b" t="t" l="l"/>
              <a:pathLst>
                <a:path h="3199003" w="10799445">
                  <a:moveTo>
                    <a:pt x="0" y="155067"/>
                  </a:moveTo>
                  <a:cubicBezTo>
                    <a:pt x="0" y="69469"/>
                    <a:pt x="69596" y="0"/>
                    <a:pt x="155448" y="0"/>
                  </a:cubicBezTo>
                  <a:lnTo>
                    <a:pt x="10643997" y="0"/>
                  </a:lnTo>
                  <a:lnTo>
                    <a:pt x="10643997" y="6350"/>
                  </a:lnTo>
                  <a:lnTo>
                    <a:pt x="10643997" y="0"/>
                  </a:lnTo>
                  <a:cubicBezTo>
                    <a:pt x="10729849" y="0"/>
                    <a:pt x="10799445" y="69469"/>
                    <a:pt x="10799445" y="155067"/>
                  </a:cubicBezTo>
                  <a:lnTo>
                    <a:pt x="10793095" y="155067"/>
                  </a:lnTo>
                  <a:lnTo>
                    <a:pt x="10799445" y="155067"/>
                  </a:lnTo>
                  <a:lnTo>
                    <a:pt x="10799445" y="3043936"/>
                  </a:lnTo>
                  <a:lnTo>
                    <a:pt x="10793095" y="3043936"/>
                  </a:lnTo>
                  <a:lnTo>
                    <a:pt x="10799445" y="3043936"/>
                  </a:lnTo>
                  <a:cubicBezTo>
                    <a:pt x="10799445" y="3129661"/>
                    <a:pt x="10729849" y="3199003"/>
                    <a:pt x="10643997" y="3199003"/>
                  </a:cubicBezTo>
                  <a:lnTo>
                    <a:pt x="10643997" y="3192653"/>
                  </a:lnTo>
                  <a:lnTo>
                    <a:pt x="10643997" y="3199003"/>
                  </a:lnTo>
                  <a:lnTo>
                    <a:pt x="155448" y="3199003"/>
                  </a:lnTo>
                  <a:lnTo>
                    <a:pt x="155448" y="3192653"/>
                  </a:lnTo>
                  <a:lnTo>
                    <a:pt x="155448" y="3199003"/>
                  </a:lnTo>
                  <a:cubicBezTo>
                    <a:pt x="69596" y="3199003"/>
                    <a:pt x="0" y="3129534"/>
                    <a:pt x="0" y="3043936"/>
                  </a:cubicBezTo>
                  <a:lnTo>
                    <a:pt x="0" y="155067"/>
                  </a:lnTo>
                  <a:lnTo>
                    <a:pt x="6350" y="155067"/>
                  </a:lnTo>
                  <a:lnTo>
                    <a:pt x="0" y="155067"/>
                  </a:lnTo>
                  <a:moveTo>
                    <a:pt x="12700" y="155067"/>
                  </a:moveTo>
                  <a:lnTo>
                    <a:pt x="12700" y="3043936"/>
                  </a:lnTo>
                  <a:lnTo>
                    <a:pt x="6350" y="3043936"/>
                  </a:lnTo>
                  <a:lnTo>
                    <a:pt x="12700" y="3043936"/>
                  </a:lnTo>
                  <a:cubicBezTo>
                    <a:pt x="12700" y="3122549"/>
                    <a:pt x="76581" y="3186303"/>
                    <a:pt x="155448" y="3186303"/>
                  </a:cubicBezTo>
                  <a:lnTo>
                    <a:pt x="10643997" y="3186303"/>
                  </a:lnTo>
                  <a:cubicBezTo>
                    <a:pt x="10722864" y="3186303"/>
                    <a:pt x="10786745" y="3122549"/>
                    <a:pt x="10786745" y="3043936"/>
                  </a:cubicBezTo>
                  <a:lnTo>
                    <a:pt x="10786745" y="155067"/>
                  </a:lnTo>
                  <a:cubicBezTo>
                    <a:pt x="10786872" y="76454"/>
                    <a:pt x="10722991" y="12700"/>
                    <a:pt x="10643997" y="12700"/>
                  </a:cubicBezTo>
                  <a:lnTo>
                    <a:pt x="155448" y="12700"/>
                  </a:lnTo>
                  <a:lnTo>
                    <a:pt x="155448" y="6350"/>
                  </a:lnTo>
                  <a:lnTo>
                    <a:pt x="155448" y="12700"/>
                  </a:lnTo>
                  <a:cubicBezTo>
                    <a:pt x="76581" y="12700"/>
                    <a:pt x="12700" y="76454"/>
                    <a:pt x="12700" y="15506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04465" y="6894614"/>
            <a:ext cx="3651647" cy="4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order_lines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4465" y="7443045"/>
            <a:ext cx="7540076" cy="131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orderline_id SERIAL (PK), order_id INT (FK), product_id INT (FK), quantity INT, unit_price DECIMAL(10,2), line_total DECIMAL(12,2)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3510" y="6633867"/>
            <a:ext cx="8099822" cy="2399262"/>
            <a:chOff x="0" y="0"/>
            <a:chExt cx="10799762" cy="3199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10786999" cy="3186303"/>
            </a:xfrm>
            <a:custGeom>
              <a:avLst/>
              <a:gdLst/>
              <a:ahLst/>
              <a:cxnLst/>
              <a:rect r="r" b="b" t="t" l="l"/>
              <a:pathLst>
                <a:path h="3186303" w="10786999">
                  <a:moveTo>
                    <a:pt x="0" y="148717"/>
                  </a:moveTo>
                  <a:cubicBezTo>
                    <a:pt x="0" y="66548"/>
                    <a:pt x="66802" y="0"/>
                    <a:pt x="149098" y="0"/>
                  </a:cubicBezTo>
                  <a:lnTo>
                    <a:pt x="10637901" y="0"/>
                  </a:lnTo>
                  <a:cubicBezTo>
                    <a:pt x="10720324" y="0"/>
                    <a:pt x="10786999" y="66548"/>
                    <a:pt x="10786999" y="148717"/>
                  </a:cubicBezTo>
                  <a:lnTo>
                    <a:pt x="10786999" y="3037586"/>
                  </a:lnTo>
                  <a:cubicBezTo>
                    <a:pt x="10786999" y="3119755"/>
                    <a:pt x="10720197" y="3186303"/>
                    <a:pt x="10637901" y="3186303"/>
                  </a:cubicBezTo>
                  <a:lnTo>
                    <a:pt x="149098" y="3186303"/>
                  </a:lnTo>
                  <a:cubicBezTo>
                    <a:pt x="66802" y="3186303"/>
                    <a:pt x="0" y="3119755"/>
                    <a:pt x="0" y="3037586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99699" cy="3199003"/>
            </a:xfrm>
            <a:custGeom>
              <a:avLst/>
              <a:gdLst/>
              <a:ahLst/>
              <a:cxnLst/>
              <a:rect r="r" b="b" t="t" l="l"/>
              <a:pathLst>
                <a:path h="3199003" w="10799699">
                  <a:moveTo>
                    <a:pt x="0" y="155067"/>
                  </a:moveTo>
                  <a:cubicBezTo>
                    <a:pt x="0" y="69469"/>
                    <a:pt x="69596" y="0"/>
                    <a:pt x="155448" y="0"/>
                  </a:cubicBezTo>
                  <a:lnTo>
                    <a:pt x="10644251" y="0"/>
                  </a:lnTo>
                  <a:lnTo>
                    <a:pt x="10644251" y="6350"/>
                  </a:lnTo>
                  <a:lnTo>
                    <a:pt x="10644251" y="0"/>
                  </a:lnTo>
                  <a:cubicBezTo>
                    <a:pt x="10730103" y="0"/>
                    <a:pt x="10799699" y="69469"/>
                    <a:pt x="10799699" y="155067"/>
                  </a:cubicBezTo>
                  <a:lnTo>
                    <a:pt x="10793349" y="155067"/>
                  </a:lnTo>
                  <a:lnTo>
                    <a:pt x="10799699" y="155067"/>
                  </a:lnTo>
                  <a:lnTo>
                    <a:pt x="10799699" y="3043936"/>
                  </a:lnTo>
                  <a:lnTo>
                    <a:pt x="10793349" y="3043936"/>
                  </a:lnTo>
                  <a:lnTo>
                    <a:pt x="10799699" y="3043936"/>
                  </a:lnTo>
                  <a:cubicBezTo>
                    <a:pt x="10799699" y="3129661"/>
                    <a:pt x="10730103" y="3199003"/>
                    <a:pt x="10644251" y="3199003"/>
                  </a:cubicBezTo>
                  <a:lnTo>
                    <a:pt x="10644251" y="3192653"/>
                  </a:lnTo>
                  <a:lnTo>
                    <a:pt x="10644251" y="3199003"/>
                  </a:lnTo>
                  <a:lnTo>
                    <a:pt x="155448" y="3199003"/>
                  </a:lnTo>
                  <a:lnTo>
                    <a:pt x="155448" y="3192653"/>
                  </a:lnTo>
                  <a:lnTo>
                    <a:pt x="155448" y="3199003"/>
                  </a:lnTo>
                  <a:cubicBezTo>
                    <a:pt x="69596" y="3199003"/>
                    <a:pt x="0" y="3129534"/>
                    <a:pt x="0" y="3043936"/>
                  </a:cubicBezTo>
                  <a:lnTo>
                    <a:pt x="0" y="155067"/>
                  </a:lnTo>
                  <a:lnTo>
                    <a:pt x="6350" y="155067"/>
                  </a:lnTo>
                  <a:lnTo>
                    <a:pt x="0" y="155067"/>
                  </a:lnTo>
                  <a:moveTo>
                    <a:pt x="12700" y="155067"/>
                  </a:moveTo>
                  <a:lnTo>
                    <a:pt x="12700" y="3043936"/>
                  </a:lnTo>
                  <a:lnTo>
                    <a:pt x="6350" y="3043936"/>
                  </a:lnTo>
                  <a:lnTo>
                    <a:pt x="12700" y="3043936"/>
                  </a:lnTo>
                  <a:cubicBezTo>
                    <a:pt x="12700" y="3122549"/>
                    <a:pt x="76581" y="3186303"/>
                    <a:pt x="155448" y="3186303"/>
                  </a:cubicBezTo>
                  <a:lnTo>
                    <a:pt x="10644251" y="3186303"/>
                  </a:lnTo>
                  <a:cubicBezTo>
                    <a:pt x="10723118" y="3186303"/>
                    <a:pt x="10786999" y="3122549"/>
                    <a:pt x="10786999" y="3043936"/>
                  </a:cubicBezTo>
                  <a:lnTo>
                    <a:pt x="10786999" y="155067"/>
                  </a:lnTo>
                  <a:cubicBezTo>
                    <a:pt x="10787126" y="76454"/>
                    <a:pt x="10723118" y="12700"/>
                    <a:pt x="10644251" y="12700"/>
                  </a:cubicBezTo>
                  <a:lnTo>
                    <a:pt x="155448" y="12700"/>
                  </a:lnTo>
                  <a:lnTo>
                    <a:pt x="155448" y="6350"/>
                  </a:lnTo>
                  <a:lnTo>
                    <a:pt x="155448" y="12700"/>
                  </a:lnTo>
                  <a:cubicBezTo>
                    <a:pt x="76581" y="12700"/>
                    <a:pt x="12700" y="76454"/>
                    <a:pt x="12700" y="15506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543307" y="6894614"/>
            <a:ext cx="3651647" cy="4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payments (tùy chọn)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3307" y="7443045"/>
            <a:ext cx="7540228" cy="89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payment_id SERIAL (PK), order_id INT (FK), amount DECIMAL(12,2), method VARCHAR(50), paid_at TIMESTAMP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0435" y="1470870"/>
            <a:ext cx="12547549" cy="68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PHẦN II — Bài 3: Khóa chính, Khóa ngoại và Quan hệ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435" y="2513257"/>
            <a:ext cx="16506977" cy="4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Chỉ rõ PK, FK và loại quan hệ giữa các bảng đã chuẩn hóa.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5673" y="3135811"/>
            <a:ext cx="8162030" cy="2097138"/>
            <a:chOff x="0" y="0"/>
            <a:chExt cx="10882706" cy="27961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869930" cy="2783459"/>
            </a:xfrm>
            <a:custGeom>
              <a:avLst/>
              <a:gdLst/>
              <a:ahLst/>
              <a:cxnLst/>
              <a:rect r="r" b="b" t="t" l="l"/>
              <a:pathLst>
                <a:path h="2783459" w="10869930">
                  <a:moveTo>
                    <a:pt x="0" y="133985"/>
                  </a:moveTo>
                  <a:cubicBezTo>
                    <a:pt x="0" y="59944"/>
                    <a:pt x="60198" y="0"/>
                    <a:pt x="134366" y="0"/>
                  </a:cubicBezTo>
                  <a:lnTo>
                    <a:pt x="10735564" y="0"/>
                  </a:lnTo>
                  <a:cubicBezTo>
                    <a:pt x="10809859" y="0"/>
                    <a:pt x="10869930" y="59944"/>
                    <a:pt x="10869930" y="133985"/>
                  </a:cubicBezTo>
                  <a:lnTo>
                    <a:pt x="10869930" y="2649474"/>
                  </a:lnTo>
                  <a:cubicBezTo>
                    <a:pt x="10869930" y="2723515"/>
                    <a:pt x="10809732" y="2783459"/>
                    <a:pt x="10735564" y="2783459"/>
                  </a:cubicBezTo>
                  <a:lnTo>
                    <a:pt x="134366" y="2783459"/>
                  </a:lnTo>
                  <a:cubicBezTo>
                    <a:pt x="60198" y="2783459"/>
                    <a:pt x="0" y="2723515"/>
                    <a:pt x="0" y="26494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2630" cy="2796159"/>
            </a:xfrm>
            <a:custGeom>
              <a:avLst/>
              <a:gdLst/>
              <a:ahLst/>
              <a:cxnLst/>
              <a:rect r="r" b="b" t="t" l="l"/>
              <a:pathLst>
                <a:path h="2796159" w="10882630">
                  <a:moveTo>
                    <a:pt x="0" y="140335"/>
                  </a:moveTo>
                  <a:cubicBezTo>
                    <a:pt x="0" y="62865"/>
                    <a:pt x="62992" y="0"/>
                    <a:pt x="140716" y="0"/>
                  </a:cubicBezTo>
                  <a:lnTo>
                    <a:pt x="10741914" y="0"/>
                  </a:lnTo>
                  <a:lnTo>
                    <a:pt x="10741914" y="6350"/>
                  </a:lnTo>
                  <a:lnTo>
                    <a:pt x="10741914" y="0"/>
                  </a:lnTo>
                  <a:cubicBezTo>
                    <a:pt x="10819638" y="0"/>
                    <a:pt x="10882630" y="62865"/>
                    <a:pt x="10882630" y="140335"/>
                  </a:cubicBezTo>
                  <a:lnTo>
                    <a:pt x="10876280" y="140335"/>
                  </a:lnTo>
                  <a:lnTo>
                    <a:pt x="10882630" y="140335"/>
                  </a:lnTo>
                  <a:lnTo>
                    <a:pt x="10882630" y="2655824"/>
                  </a:lnTo>
                  <a:lnTo>
                    <a:pt x="10876280" y="2655824"/>
                  </a:lnTo>
                  <a:lnTo>
                    <a:pt x="10882630" y="2655824"/>
                  </a:lnTo>
                  <a:cubicBezTo>
                    <a:pt x="10882630" y="2733294"/>
                    <a:pt x="10819638" y="2796159"/>
                    <a:pt x="10741914" y="2796159"/>
                  </a:cubicBezTo>
                  <a:lnTo>
                    <a:pt x="10741914" y="2789809"/>
                  </a:lnTo>
                  <a:lnTo>
                    <a:pt x="10741914" y="2796159"/>
                  </a:lnTo>
                  <a:lnTo>
                    <a:pt x="140716" y="2796159"/>
                  </a:lnTo>
                  <a:lnTo>
                    <a:pt x="140716" y="2789809"/>
                  </a:lnTo>
                  <a:lnTo>
                    <a:pt x="140716" y="2796159"/>
                  </a:lnTo>
                  <a:cubicBezTo>
                    <a:pt x="62992" y="2796159"/>
                    <a:pt x="0" y="2733421"/>
                    <a:pt x="0" y="2655824"/>
                  </a:cubicBezTo>
                  <a:lnTo>
                    <a:pt x="0" y="140335"/>
                  </a:lnTo>
                  <a:lnTo>
                    <a:pt x="6350" y="140335"/>
                  </a:lnTo>
                  <a:lnTo>
                    <a:pt x="0" y="140335"/>
                  </a:lnTo>
                  <a:moveTo>
                    <a:pt x="12700" y="140335"/>
                  </a:moveTo>
                  <a:lnTo>
                    <a:pt x="12700" y="2655824"/>
                  </a:lnTo>
                  <a:lnTo>
                    <a:pt x="6350" y="2655824"/>
                  </a:lnTo>
                  <a:lnTo>
                    <a:pt x="12700" y="2655824"/>
                  </a:lnTo>
                  <a:cubicBezTo>
                    <a:pt x="12700" y="2726309"/>
                    <a:pt x="69977" y="2783459"/>
                    <a:pt x="140716" y="2783459"/>
                  </a:cubicBezTo>
                  <a:lnTo>
                    <a:pt x="10741914" y="2783459"/>
                  </a:lnTo>
                  <a:cubicBezTo>
                    <a:pt x="10812653" y="2783459"/>
                    <a:pt x="10869930" y="2726309"/>
                    <a:pt x="10869930" y="2655824"/>
                  </a:cubicBezTo>
                  <a:lnTo>
                    <a:pt x="10869930" y="140335"/>
                  </a:lnTo>
                  <a:cubicBezTo>
                    <a:pt x="10870057" y="69850"/>
                    <a:pt x="10812653" y="12700"/>
                    <a:pt x="10741914" y="12700"/>
                  </a:cubicBezTo>
                  <a:lnTo>
                    <a:pt x="140716" y="12700"/>
                  </a:lnTo>
                  <a:lnTo>
                    <a:pt x="140716" y="6350"/>
                  </a:lnTo>
                  <a:lnTo>
                    <a:pt x="140716" y="12700"/>
                  </a:lnTo>
                  <a:cubicBezTo>
                    <a:pt x="69977" y="12700"/>
                    <a:pt x="12700" y="69850"/>
                    <a:pt x="12700" y="140335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9133" y="3360687"/>
            <a:ext cx="3289402" cy="43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Khóa chính (PK)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9133" y="3873703"/>
            <a:ext cx="7655128" cy="75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customers.customer_id, products.product_id, orders.order_id, order_lines.orderline_id, payments.payment_id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39993" y="3135811"/>
            <a:ext cx="8162182" cy="2097138"/>
            <a:chOff x="0" y="0"/>
            <a:chExt cx="10882909" cy="2796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0870185" cy="2783459"/>
            </a:xfrm>
            <a:custGeom>
              <a:avLst/>
              <a:gdLst/>
              <a:ahLst/>
              <a:cxnLst/>
              <a:rect r="r" b="b" t="t" l="l"/>
              <a:pathLst>
                <a:path h="2783459" w="10870185">
                  <a:moveTo>
                    <a:pt x="0" y="133985"/>
                  </a:moveTo>
                  <a:cubicBezTo>
                    <a:pt x="0" y="59944"/>
                    <a:pt x="60198" y="0"/>
                    <a:pt x="134366" y="0"/>
                  </a:cubicBezTo>
                  <a:lnTo>
                    <a:pt x="10735818" y="0"/>
                  </a:lnTo>
                  <a:cubicBezTo>
                    <a:pt x="10810113" y="0"/>
                    <a:pt x="10870185" y="59944"/>
                    <a:pt x="10870185" y="133985"/>
                  </a:cubicBezTo>
                  <a:lnTo>
                    <a:pt x="10870185" y="2649474"/>
                  </a:lnTo>
                  <a:cubicBezTo>
                    <a:pt x="10870185" y="2723515"/>
                    <a:pt x="10809987" y="2783459"/>
                    <a:pt x="10735818" y="2783459"/>
                  </a:cubicBezTo>
                  <a:lnTo>
                    <a:pt x="134366" y="2783459"/>
                  </a:lnTo>
                  <a:cubicBezTo>
                    <a:pt x="60198" y="2783459"/>
                    <a:pt x="0" y="2723515"/>
                    <a:pt x="0" y="2649474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2885" cy="2796159"/>
            </a:xfrm>
            <a:custGeom>
              <a:avLst/>
              <a:gdLst/>
              <a:ahLst/>
              <a:cxnLst/>
              <a:rect r="r" b="b" t="t" l="l"/>
              <a:pathLst>
                <a:path h="2796159" w="10882885">
                  <a:moveTo>
                    <a:pt x="0" y="140335"/>
                  </a:moveTo>
                  <a:cubicBezTo>
                    <a:pt x="0" y="62865"/>
                    <a:pt x="62992" y="0"/>
                    <a:pt x="140716" y="0"/>
                  </a:cubicBezTo>
                  <a:lnTo>
                    <a:pt x="10742168" y="0"/>
                  </a:lnTo>
                  <a:lnTo>
                    <a:pt x="10742168" y="6350"/>
                  </a:lnTo>
                  <a:lnTo>
                    <a:pt x="10742168" y="0"/>
                  </a:lnTo>
                  <a:cubicBezTo>
                    <a:pt x="10819892" y="0"/>
                    <a:pt x="10882885" y="62865"/>
                    <a:pt x="10882885" y="140335"/>
                  </a:cubicBezTo>
                  <a:lnTo>
                    <a:pt x="10876535" y="140335"/>
                  </a:lnTo>
                  <a:lnTo>
                    <a:pt x="10882885" y="140335"/>
                  </a:lnTo>
                  <a:lnTo>
                    <a:pt x="10882885" y="2655824"/>
                  </a:lnTo>
                  <a:lnTo>
                    <a:pt x="10876535" y="2655824"/>
                  </a:lnTo>
                  <a:lnTo>
                    <a:pt x="10882885" y="2655824"/>
                  </a:lnTo>
                  <a:cubicBezTo>
                    <a:pt x="10882885" y="2733294"/>
                    <a:pt x="10819892" y="2796159"/>
                    <a:pt x="10742168" y="2796159"/>
                  </a:cubicBezTo>
                  <a:lnTo>
                    <a:pt x="10742168" y="2789809"/>
                  </a:lnTo>
                  <a:lnTo>
                    <a:pt x="10742168" y="2796159"/>
                  </a:lnTo>
                  <a:lnTo>
                    <a:pt x="140716" y="2796159"/>
                  </a:lnTo>
                  <a:lnTo>
                    <a:pt x="140716" y="2789809"/>
                  </a:lnTo>
                  <a:lnTo>
                    <a:pt x="140716" y="2796159"/>
                  </a:lnTo>
                  <a:cubicBezTo>
                    <a:pt x="62992" y="2796159"/>
                    <a:pt x="0" y="2733421"/>
                    <a:pt x="0" y="2655824"/>
                  </a:cubicBezTo>
                  <a:lnTo>
                    <a:pt x="0" y="140335"/>
                  </a:lnTo>
                  <a:lnTo>
                    <a:pt x="6350" y="140335"/>
                  </a:lnTo>
                  <a:lnTo>
                    <a:pt x="0" y="140335"/>
                  </a:lnTo>
                  <a:moveTo>
                    <a:pt x="12700" y="140335"/>
                  </a:moveTo>
                  <a:lnTo>
                    <a:pt x="12700" y="2655824"/>
                  </a:lnTo>
                  <a:lnTo>
                    <a:pt x="6350" y="2655824"/>
                  </a:lnTo>
                  <a:lnTo>
                    <a:pt x="12700" y="2655824"/>
                  </a:lnTo>
                  <a:cubicBezTo>
                    <a:pt x="12700" y="2726309"/>
                    <a:pt x="69977" y="2783459"/>
                    <a:pt x="140716" y="2783459"/>
                  </a:cubicBezTo>
                  <a:lnTo>
                    <a:pt x="10742168" y="2783459"/>
                  </a:lnTo>
                  <a:cubicBezTo>
                    <a:pt x="10812907" y="2783459"/>
                    <a:pt x="10870185" y="2726309"/>
                    <a:pt x="10870185" y="2655824"/>
                  </a:cubicBezTo>
                  <a:lnTo>
                    <a:pt x="10870185" y="140335"/>
                  </a:lnTo>
                  <a:cubicBezTo>
                    <a:pt x="10870184" y="69850"/>
                    <a:pt x="10812907" y="12700"/>
                    <a:pt x="10742168" y="12700"/>
                  </a:cubicBezTo>
                  <a:lnTo>
                    <a:pt x="140716" y="12700"/>
                  </a:lnTo>
                  <a:lnTo>
                    <a:pt x="140716" y="6350"/>
                  </a:lnTo>
                  <a:lnTo>
                    <a:pt x="140716" y="12700"/>
                  </a:lnTo>
                  <a:cubicBezTo>
                    <a:pt x="69977" y="12700"/>
                    <a:pt x="12700" y="69850"/>
                    <a:pt x="12700" y="140335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93453" y="3360687"/>
            <a:ext cx="3289402" cy="43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Khóa ngoại (FK)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3453" y="3873703"/>
            <a:ext cx="7655271" cy="11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orders.customer_id → customers.customer_id; order_lines.order_id → orders.order_id; order_lines.product_id → products.product_id; payments.order_id → orders.order_id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5673" y="5425230"/>
            <a:ext cx="8162030" cy="3366935"/>
            <a:chOff x="0" y="0"/>
            <a:chExt cx="10882706" cy="44892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0870057" cy="4476496"/>
            </a:xfrm>
            <a:custGeom>
              <a:avLst/>
              <a:gdLst/>
              <a:ahLst/>
              <a:cxnLst/>
              <a:rect r="r" b="b" t="t" l="l"/>
              <a:pathLst>
                <a:path h="4476496" w="10870057">
                  <a:moveTo>
                    <a:pt x="0" y="133985"/>
                  </a:moveTo>
                  <a:cubicBezTo>
                    <a:pt x="0" y="59944"/>
                    <a:pt x="60071" y="0"/>
                    <a:pt x="134239" y="0"/>
                  </a:cubicBezTo>
                  <a:lnTo>
                    <a:pt x="10735818" y="0"/>
                  </a:lnTo>
                  <a:cubicBezTo>
                    <a:pt x="10809987" y="0"/>
                    <a:pt x="10870057" y="59944"/>
                    <a:pt x="10870057" y="133985"/>
                  </a:cubicBezTo>
                  <a:lnTo>
                    <a:pt x="10870057" y="4342511"/>
                  </a:lnTo>
                  <a:cubicBezTo>
                    <a:pt x="10870057" y="4416552"/>
                    <a:pt x="10809987" y="4476496"/>
                    <a:pt x="10735818" y="4476496"/>
                  </a:cubicBezTo>
                  <a:lnTo>
                    <a:pt x="134239" y="4476496"/>
                  </a:lnTo>
                  <a:cubicBezTo>
                    <a:pt x="60071" y="4476496"/>
                    <a:pt x="0" y="4416552"/>
                    <a:pt x="0" y="4342511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82757" cy="4489196"/>
            </a:xfrm>
            <a:custGeom>
              <a:avLst/>
              <a:gdLst/>
              <a:ahLst/>
              <a:cxnLst/>
              <a:rect r="r" b="b" t="t" l="l"/>
              <a:pathLst>
                <a:path h="4489196" w="10882757">
                  <a:moveTo>
                    <a:pt x="0" y="140335"/>
                  </a:moveTo>
                  <a:cubicBezTo>
                    <a:pt x="0" y="62865"/>
                    <a:pt x="62992" y="0"/>
                    <a:pt x="140589" y="0"/>
                  </a:cubicBezTo>
                  <a:lnTo>
                    <a:pt x="10742168" y="0"/>
                  </a:lnTo>
                  <a:lnTo>
                    <a:pt x="10742168" y="6350"/>
                  </a:lnTo>
                  <a:lnTo>
                    <a:pt x="10742168" y="0"/>
                  </a:lnTo>
                  <a:cubicBezTo>
                    <a:pt x="10819765" y="0"/>
                    <a:pt x="10882757" y="62865"/>
                    <a:pt x="10882757" y="140335"/>
                  </a:cubicBezTo>
                  <a:lnTo>
                    <a:pt x="10876407" y="140335"/>
                  </a:lnTo>
                  <a:lnTo>
                    <a:pt x="10882757" y="140335"/>
                  </a:lnTo>
                  <a:lnTo>
                    <a:pt x="10882757" y="4348861"/>
                  </a:lnTo>
                  <a:lnTo>
                    <a:pt x="10876407" y="4348861"/>
                  </a:lnTo>
                  <a:lnTo>
                    <a:pt x="10882757" y="4348861"/>
                  </a:lnTo>
                  <a:cubicBezTo>
                    <a:pt x="10882757" y="4426331"/>
                    <a:pt x="10819765" y="4489196"/>
                    <a:pt x="10742168" y="4489196"/>
                  </a:cubicBezTo>
                  <a:lnTo>
                    <a:pt x="10742168" y="4482846"/>
                  </a:lnTo>
                  <a:lnTo>
                    <a:pt x="10742168" y="4489196"/>
                  </a:lnTo>
                  <a:lnTo>
                    <a:pt x="140589" y="4489196"/>
                  </a:lnTo>
                  <a:lnTo>
                    <a:pt x="140589" y="4482846"/>
                  </a:lnTo>
                  <a:lnTo>
                    <a:pt x="140589" y="4489196"/>
                  </a:lnTo>
                  <a:cubicBezTo>
                    <a:pt x="62992" y="4489196"/>
                    <a:pt x="0" y="4426458"/>
                    <a:pt x="0" y="4348861"/>
                  </a:cubicBezTo>
                  <a:lnTo>
                    <a:pt x="0" y="140335"/>
                  </a:lnTo>
                  <a:lnTo>
                    <a:pt x="6350" y="140335"/>
                  </a:lnTo>
                  <a:lnTo>
                    <a:pt x="0" y="140335"/>
                  </a:lnTo>
                  <a:moveTo>
                    <a:pt x="12700" y="140335"/>
                  </a:moveTo>
                  <a:lnTo>
                    <a:pt x="12700" y="4348861"/>
                  </a:lnTo>
                  <a:lnTo>
                    <a:pt x="6350" y="4348861"/>
                  </a:lnTo>
                  <a:lnTo>
                    <a:pt x="12700" y="4348861"/>
                  </a:lnTo>
                  <a:cubicBezTo>
                    <a:pt x="12700" y="4419346"/>
                    <a:pt x="69977" y="4476496"/>
                    <a:pt x="140589" y="4476496"/>
                  </a:cubicBezTo>
                  <a:lnTo>
                    <a:pt x="10742168" y="4476496"/>
                  </a:lnTo>
                  <a:cubicBezTo>
                    <a:pt x="10812780" y="4476496"/>
                    <a:pt x="10870057" y="4419346"/>
                    <a:pt x="10870057" y="4348861"/>
                  </a:cubicBezTo>
                  <a:lnTo>
                    <a:pt x="10870057" y="140335"/>
                  </a:lnTo>
                  <a:cubicBezTo>
                    <a:pt x="10870057" y="69850"/>
                    <a:pt x="10812780" y="12700"/>
                    <a:pt x="10742168" y="12700"/>
                  </a:cubicBezTo>
                  <a:lnTo>
                    <a:pt x="140589" y="12700"/>
                  </a:lnTo>
                  <a:lnTo>
                    <a:pt x="140589" y="6350"/>
                  </a:lnTo>
                  <a:lnTo>
                    <a:pt x="140589" y="12700"/>
                  </a:lnTo>
                  <a:cubicBezTo>
                    <a:pt x="69977" y="12700"/>
                    <a:pt x="12700" y="69850"/>
                    <a:pt x="12700" y="140335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39133" y="5650116"/>
            <a:ext cx="3289402" cy="43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Loại quan hệ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9133" y="6163123"/>
            <a:ext cx="7655128" cy="237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customers — orders: 1 - N (một khách hàng có nhiều đơn)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 — order_lines: 1 - N (một đơn có nhiều mặt hàng)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products — order_lines: 1 - N (một sản phẩm xuất hiện trong nhiều order_lines)</a:t>
            </a:r>
          </a:p>
          <a:p>
            <a:pPr algn="l" marL="282773" indent="-141387" lvl="1">
              <a:lnSpc>
                <a:spcPts val="2749"/>
              </a:lnSpc>
              <a:buFont typeface="Arial"/>
              <a:buChar char="•"/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 — payments: 1 - N (một đơn có thể có nhiều lần thanh toán, hoặc 1-1 tùy nghiệp vụ)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39993" y="5425230"/>
            <a:ext cx="8162182" cy="3366935"/>
            <a:chOff x="0" y="0"/>
            <a:chExt cx="10882909" cy="44892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870184" cy="4476496"/>
            </a:xfrm>
            <a:custGeom>
              <a:avLst/>
              <a:gdLst/>
              <a:ahLst/>
              <a:cxnLst/>
              <a:rect r="r" b="b" t="t" l="l"/>
              <a:pathLst>
                <a:path h="4476496" w="10870184">
                  <a:moveTo>
                    <a:pt x="0" y="133985"/>
                  </a:moveTo>
                  <a:cubicBezTo>
                    <a:pt x="0" y="59944"/>
                    <a:pt x="60071" y="0"/>
                    <a:pt x="134239" y="0"/>
                  </a:cubicBezTo>
                  <a:lnTo>
                    <a:pt x="10735945" y="0"/>
                  </a:lnTo>
                  <a:cubicBezTo>
                    <a:pt x="10810113" y="0"/>
                    <a:pt x="10870184" y="59944"/>
                    <a:pt x="10870184" y="133985"/>
                  </a:cubicBezTo>
                  <a:lnTo>
                    <a:pt x="10870184" y="4342511"/>
                  </a:lnTo>
                  <a:cubicBezTo>
                    <a:pt x="10870184" y="4416552"/>
                    <a:pt x="10810113" y="4476496"/>
                    <a:pt x="10735945" y="4476496"/>
                  </a:cubicBezTo>
                  <a:lnTo>
                    <a:pt x="134239" y="4476496"/>
                  </a:lnTo>
                  <a:cubicBezTo>
                    <a:pt x="60071" y="4476496"/>
                    <a:pt x="0" y="4416552"/>
                    <a:pt x="0" y="4342511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2884" cy="4489196"/>
            </a:xfrm>
            <a:custGeom>
              <a:avLst/>
              <a:gdLst/>
              <a:ahLst/>
              <a:cxnLst/>
              <a:rect r="r" b="b" t="t" l="l"/>
              <a:pathLst>
                <a:path h="4489196" w="10882884">
                  <a:moveTo>
                    <a:pt x="0" y="140335"/>
                  </a:moveTo>
                  <a:cubicBezTo>
                    <a:pt x="0" y="62865"/>
                    <a:pt x="62992" y="0"/>
                    <a:pt x="140589" y="0"/>
                  </a:cubicBezTo>
                  <a:lnTo>
                    <a:pt x="10742295" y="0"/>
                  </a:lnTo>
                  <a:lnTo>
                    <a:pt x="10742295" y="6350"/>
                  </a:lnTo>
                  <a:lnTo>
                    <a:pt x="10742295" y="0"/>
                  </a:lnTo>
                  <a:cubicBezTo>
                    <a:pt x="10819892" y="0"/>
                    <a:pt x="10882884" y="62865"/>
                    <a:pt x="10882884" y="140335"/>
                  </a:cubicBezTo>
                  <a:lnTo>
                    <a:pt x="10876534" y="140335"/>
                  </a:lnTo>
                  <a:lnTo>
                    <a:pt x="10882884" y="140335"/>
                  </a:lnTo>
                  <a:lnTo>
                    <a:pt x="10882884" y="4348861"/>
                  </a:lnTo>
                  <a:lnTo>
                    <a:pt x="10876534" y="4348861"/>
                  </a:lnTo>
                  <a:lnTo>
                    <a:pt x="10882884" y="4348861"/>
                  </a:lnTo>
                  <a:cubicBezTo>
                    <a:pt x="10882884" y="4426331"/>
                    <a:pt x="10819892" y="4489196"/>
                    <a:pt x="10742295" y="4489196"/>
                  </a:cubicBezTo>
                  <a:lnTo>
                    <a:pt x="10742295" y="4482846"/>
                  </a:lnTo>
                  <a:lnTo>
                    <a:pt x="10742295" y="4489196"/>
                  </a:lnTo>
                  <a:lnTo>
                    <a:pt x="140589" y="4489196"/>
                  </a:lnTo>
                  <a:lnTo>
                    <a:pt x="140589" y="4482846"/>
                  </a:lnTo>
                  <a:lnTo>
                    <a:pt x="140589" y="4489196"/>
                  </a:lnTo>
                  <a:cubicBezTo>
                    <a:pt x="62992" y="4489196"/>
                    <a:pt x="0" y="4426458"/>
                    <a:pt x="0" y="4348861"/>
                  </a:cubicBezTo>
                  <a:lnTo>
                    <a:pt x="0" y="140335"/>
                  </a:lnTo>
                  <a:lnTo>
                    <a:pt x="6350" y="140335"/>
                  </a:lnTo>
                  <a:lnTo>
                    <a:pt x="0" y="140335"/>
                  </a:lnTo>
                  <a:moveTo>
                    <a:pt x="12700" y="140335"/>
                  </a:moveTo>
                  <a:lnTo>
                    <a:pt x="12700" y="4348861"/>
                  </a:lnTo>
                  <a:lnTo>
                    <a:pt x="6350" y="4348861"/>
                  </a:lnTo>
                  <a:lnTo>
                    <a:pt x="12700" y="4348861"/>
                  </a:lnTo>
                  <a:cubicBezTo>
                    <a:pt x="12700" y="4419346"/>
                    <a:pt x="69977" y="4476496"/>
                    <a:pt x="140589" y="4476496"/>
                  </a:cubicBezTo>
                  <a:lnTo>
                    <a:pt x="10742295" y="4476496"/>
                  </a:lnTo>
                  <a:cubicBezTo>
                    <a:pt x="10812907" y="4476496"/>
                    <a:pt x="10870184" y="4419346"/>
                    <a:pt x="10870184" y="4348861"/>
                  </a:cubicBezTo>
                  <a:lnTo>
                    <a:pt x="10870184" y="140335"/>
                  </a:lnTo>
                  <a:cubicBezTo>
                    <a:pt x="10870184" y="69850"/>
                    <a:pt x="10813034" y="12700"/>
                    <a:pt x="10742295" y="12700"/>
                  </a:cubicBezTo>
                  <a:lnTo>
                    <a:pt x="140589" y="12700"/>
                  </a:lnTo>
                  <a:lnTo>
                    <a:pt x="140589" y="6350"/>
                  </a:lnTo>
                  <a:lnTo>
                    <a:pt x="140589" y="12700"/>
                  </a:lnTo>
                  <a:cubicBezTo>
                    <a:pt x="69977" y="12700"/>
                    <a:pt x="12700" y="69850"/>
                    <a:pt x="12700" y="140335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493453" y="5650116"/>
            <a:ext cx="3507581" cy="43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Giải quyết quan hệ N-N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93453" y="6163123"/>
            <a:ext cx="7655271" cy="11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 hệ N-N giữa Orders và Products được giải bằng bảng trung gian order_lines (một hàng = một sản phẩm trong một đơn cùng số lượng và giá).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42047" y="752323"/>
            <a:ext cx="9461897" cy="158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Bài 4 — Vẽ Sơ đồ ERD (Hướng dẫn để vẽ)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2047" y="2669534"/>
            <a:ext cx="9461897" cy="98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Hướng dẫn nhanh để vẽ ERD cho "An Bình Mart" (sử dụng draw.io hoặc giấy):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42047" y="3878761"/>
            <a:ext cx="9461897" cy="440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AutoNum type="arabicPeriod" startAt="1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Vẽ các thực thể: customers, products, orders, order_lines, payments.</a:t>
            </a:r>
          </a:p>
          <a:p>
            <a:pPr algn="l" marL="329902" indent="-164951" lvl="1">
              <a:lnSpc>
                <a:spcPts val="3500"/>
              </a:lnSpc>
              <a:buAutoNum type="arabicPeriod" startAt="1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Trong mỗi thực thể ghi cột cùng kiểu dữ liệu; gạch chân PK, viết FK bên cạnh và chú thích.</a:t>
            </a:r>
          </a:p>
          <a:p>
            <a:pPr algn="l" marL="329902" indent="-164951" lvl="1">
              <a:lnSpc>
                <a:spcPts val="3500"/>
              </a:lnSpc>
              <a:buAutoNum type="arabicPeriod" startAt="1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Vẽ mối nối: customers (1) — (N) orders; orders (1) — (N) order_lines; products (1) — (N) order_lines; orders (1) — (N) payments.</a:t>
            </a:r>
          </a:p>
          <a:p>
            <a:pPr algn="l" marL="329902" indent="-164951" lvl="1">
              <a:lnSpc>
                <a:spcPts val="3500"/>
              </a:lnSpc>
              <a:buAutoNum type="arabicPeriod" startAt="1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Ghi rõ cardinality và ràng buộc (ON DELETE CASCADE / RESTRICT tùy nghiệp vụ).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2047" y="8515198"/>
            <a:ext cx="9461897" cy="98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Lưu ý: ảnh minh họa ERD nên đánh dấu PK (ví dụ PK: customer_id) và FK (ví dụ FK: customer_id → customers.customer_id) rõ ràng.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3065" y="790423"/>
            <a:ext cx="4872780" cy="41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Ví dụ SQL (Tạo bảng - PostgreSQL)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3065" y="1341091"/>
            <a:ext cx="9781880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Đoạn ví dụ dưới đây là mẫu CREATE TABLE rút gọn, dùng để triển khai thiết kế đã chuẩn hóa.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53065" y="1600352"/>
            <a:ext cx="9781880" cy="7867498"/>
            <a:chOff x="0" y="0"/>
            <a:chExt cx="13042506" cy="104899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42519" cy="10489946"/>
            </a:xfrm>
            <a:custGeom>
              <a:avLst/>
              <a:gdLst/>
              <a:ahLst/>
              <a:cxnLst/>
              <a:rect r="r" b="b" t="t" l="l"/>
              <a:pathLst>
                <a:path h="10489946" w="1304251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12963144" y="0"/>
                  </a:lnTo>
                  <a:cubicBezTo>
                    <a:pt x="13006958" y="0"/>
                    <a:pt x="13042519" y="35560"/>
                    <a:pt x="13042519" y="79375"/>
                  </a:cubicBezTo>
                  <a:lnTo>
                    <a:pt x="13042519" y="10410571"/>
                  </a:lnTo>
                  <a:cubicBezTo>
                    <a:pt x="13042519" y="10454386"/>
                    <a:pt x="13006958" y="10489946"/>
                    <a:pt x="12963144" y="10489946"/>
                  </a:cubicBezTo>
                  <a:lnTo>
                    <a:pt x="79375" y="10489946"/>
                  </a:lnTo>
                  <a:cubicBezTo>
                    <a:pt x="35560" y="10489946"/>
                    <a:pt x="0" y="10454386"/>
                    <a:pt x="0" y="10410571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46064" y="1600352"/>
            <a:ext cx="9795872" cy="7867498"/>
            <a:chOff x="0" y="0"/>
            <a:chExt cx="13061163" cy="10489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61187" cy="10489946"/>
            </a:xfrm>
            <a:custGeom>
              <a:avLst/>
              <a:gdLst/>
              <a:ahLst/>
              <a:cxnLst/>
              <a:rect r="r" b="b" t="t" l="l"/>
              <a:pathLst>
                <a:path h="10489946" w="13061187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3032867" y="0"/>
                  </a:lnTo>
                  <a:cubicBezTo>
                    <a:pt x="13048487" y="0"/>
                    <a:pt x="13061187" y="12700"/>
                    <a:pt x="13061187" y="28321"/>
                  </a:cubicBezTo>
                  <a:lnTo>
                    <a:pt x="13061187" y="10461625"/>
                  </a:lnTo>
                  <a:cubicBezTo>
                    <a:pt x="13061187" y="10477246"/>
                    <a:pt x="13048487" y="10489946"/>
                    <a:pt x="13032867" y="10489946"/>
                  </a:cubicBezTo>
                  <a:lnTo>
                    <a:pt x="28321" y="10489946"/>
                  </a:lnTo>
                  <a:cubicBezTo>
                    <a:pt x="12700" y="10489946"/>
                    <a:pt x="0" y="10477246"/>
                    <a:pt x="0" y="10461625"/>
                  </a:cubicBezTo>
                  <a:close/>
                </a:path>
              </a:pathLst>
            </a:custGeom>
            <a:solidFill>
              <a:srgbClr val="F0EDE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387748" y="1668513"/>
            <a:ext cx="9512503" cy="769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CREATE TABLE customers (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customer_id SERIAL PRIMARY KEY,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full_name VARCHAR(255),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phone VARCHAR(20),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email VARCHAR(255),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address VARCHAR(500),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created_at TIMESTAMP DEFAULT now()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312"/>
              </a:lnSpc>
            </a:pP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CREATE TABLE products (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product_id SERIAL PRIMARY KEY,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sku VARCHAR(50),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name VARCHAR(255),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unit_price DECIMAL(10,2),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unit VARCHAR(50),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category VARCHAR(100),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stock_quantity INT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312"/>
              </a:lnSpc>
            </a:pP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CREATE TABLE orders (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order_id SERIAL PRIMARY KEY,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order_code VARCHAR(50) UNIQUE,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order_date TIMESTAMP DEFAULT now(),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customer_id INT REFERENCES customers(customer_id),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total_amount DECIMAL(12,2),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status VARCHAR(50)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312"/>
              </a:lnSpc>
            </a:pP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CREATE TABLE order_lines (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orderline_id SERIAL PRIMARY KEY,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order_id INT REFERENCES orders(order_id),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product_id INT REFERENCES products(product_id),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quantity INT,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unit_price DECIMAL(10,2),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line_total DECIMAL(12,2)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312"/>
              </a:lnSpc>
            </a:pP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CREATE TABLE payments (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payment_id SERIAL PRIMARY KEY,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order_id INT REFERENCES orders(order_id),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amount DECIMAL(12,2),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method VARCHAR(50),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paid_at TIMESTAMP</a:t>
            </a:r>
          </a:p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31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1600648"/>
            <a:ext cx="8411613" cy="8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Tổng kết &amp; Các bước tiếp theo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2757783"/>
            <a:ext cx="9445523" cy="34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Đã: Xác định thực thể, tách danh sách sản phẩm thành order_lines, loại bỏ phụ thuộc bắc cầu → đạt 1NF, 2NF, 3NF.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Tiếp theo (thực hành): triển khai SQL, chèn dữ liệu mẫu, kiểm tra truy vấn JOIN, tạo chỉ mục (INDEX) cho customer_id/product_id để tối ưu truy vấn.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Thực hành đề xuất: vẽ ERD hoàn chỉnh và nộp file (PNG/PDF) kèm mã SQL.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6536084"/>
            <a:ext cx="9445523" cy="2112016"/>
            <a:chOff x="0" y="0"/>
            <a:chExt cx="12594031" cy="28160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93955" cy="2815971"/>
            </a:xfrm>
            <a:custGeom>
              <a:avLst/>
              <a:gdLst/>
              <a:ahLst/>
              <a:cxnLst/>
              <a:rect r="r" b="b" t="t" l="l"/>
              <a:pathLst>
                <a:path h="2815971" w="12593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836" y="0"/>
                    <a:pt x="12593955" y="71120"/>
                    <a:pt x="12593955" y="158750"/>
                  </a:cubicBezTo>
                  <a:lnTo>
                    <a:pt x="12593955" y="2657221"/>
                  </a:lnTo>
                  <a:cubicBezTo>
                    <a:pt x="12593955" y="2744851"/>
                    <a:pt x="12522836" y="2815971"/>
                    <a:pt x="12435205" y="2815971"/>
                  </a:cubicBezTo>
                  <a:lnTo>
                    <a:pt x="158750" y="2815971"/>
                  </a:lnTo>
                  <a:cubicBezTo>
                    <a:pt x="71120" y="2815971"/>
                    <a:pt x="0" y="2744851"/>
                    <a:pt x="0" y="2657221"/>
                  </a:cubicBezTo>
                  <a:close/>
                </a:path>
              </a:pathLst>
            </a:custGeom>
            <a:solidFill>
              <a:srgbClr val="D0C3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5759" y="6966194"/>
            <a:ext cx="354359" cy="283521"/>
            <a:chOff x="0" y="0"/>
            <a:chExt cx="472478" cy="37802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71" r="-8" b="-6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913630" y="6804717"/>
            <a:ext cx="824061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Mẹo: khi kiểm tra chuẩn hóa, luôn hỏi: "Thuộc tính X phụ thuộc vào PK hay phụ thuộc vào một non-key khác?" — nếu câu trả lời là sau, hãy tách bảng.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DAHET4UwP3g</dc:identifier>
  <dcterms:modified xsi:type="dcterms:W3CDTF">2011-08-01T06:04:30Z</dcterms:modified>
  <cp:revision>1</cp:revision>
  <dc:title>PHAN-I-Bai-1-Phan-tich-and-Xac-djinh-Thuc-the (1).pptx</dc:title>
</cp:coreProperties>
</file>